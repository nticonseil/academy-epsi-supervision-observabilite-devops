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286000"/>
            <a:ext cx="6400800" cy="64008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914400"/>
            <a:ext cx="4572000" cy="457200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BOTE848 — SUPERVISION, OBSERVABILITÉ ET MONITORING AVANCÉ DEVOPS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Séance 3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distribuées, dashboard unifié &amp; mise en situation professionnelle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460" y="4271620"/>
            <a:ext cx="372161" cy="37216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4800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&amp; Jaeger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91840" y="42062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220" y="427162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54680" y="4800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unifié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943600" y="42062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8980" y="4271620"/>
            <a:ext cx="372161" cy="37216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806440" y="4800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MSPR ShopFlow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4008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EPSI Bordeaux — Mastère SIN / EISI — RNCP 35584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Où en sommes-nous dans le parcours 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5FA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94560"/>
            <a:ext cx="594360" cy="594360"/>
          </a:xfrm>
          <a:prstGeom prst="ellipse">
            <a:avLst/>
          </a:prstGeom>
          <a:solidFill>
            <a:srgbClr val="CFE8F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947" y="2271827"/>
            <a:ext cx="439826" cy="439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71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2918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Fondamentaux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38862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vs observabilité, 3 piliers, logs bruts (jq)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97680" y="182880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F5FA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2194560"/>
            <a:ext cx="594360" cy="594360"/>
          </a:xfrm>
          <a:prstGeom prst="ellipse">
            <a:avLst/>
          </a:prstGeom>
          <a:solidFill>
            <a:srgbClr val="CFE8F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987" y="2271827"/>
            <a:ext cx="439826" cy="43982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2971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2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0" y="32918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Logs &amp; Métriques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572000" y="38862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/ ELK (LogQL, KQL) + Prometheus (PromQL, RED/USE)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46720" y="182880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66760" y="21945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4027" y="2271827"/>
            <a:ext cx="439826" cy="43982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21040" y="2971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3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321040" y="32918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Traces (aujourd'hui)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321040" y="38862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Jaeger, dashboard unifié, mise en situation MSPR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548640" y="53949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Aujourd'hui, on referme la boucle des 3 piliers puis on met les compétences en pratique sur un incident inédit.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BOTE848 — Séance 3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1 — THÉORIE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les traces, après les logs et les métriques 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5FA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0" y="22402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5785" y="2347265"/>
            <a:ext cx="608990" cy="6089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246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Métriques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3657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/ COMBIEN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41148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 agrégée : la latence P95 augmente sur une route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51960" y="192024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5FA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32120" y="22402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9105" y="2347265"/>
            <a:ext cx="608990" cy="6089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34840" y="3246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434840" y="3657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QUOI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26280" y="41148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précis : "Payment processing failed" sur api-gateway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7955280" y="1920240"/>
            <a:ext cx="3383280" cy="3566160"/>
          </a:xfrm>
          <a:prstGeom prst="roundRect">
            <a:avLst>
              <a:gd name="adj" fmla="val 2162"/>
            </a:avLst>
          </a:prstGeom>
          <a:solidFill>
            <a:srgbClr val="F5FA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235440" y="224028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2425" y="2347265"/>
            <a:ext cx="608990" cy="60899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38160" y="3246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Traces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138160" y="3657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exactement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229600" y="41148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majorité du temps passe dans UN span : payment.stripe_api_call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548640" y="5623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tracing répond à la question que ni les logs ni les métriques ne résolvent seuls sur une architecture distribuée.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BOTE848 — Séance 3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1 — CONCEPTS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Trace, span : l'anatomie d'une requête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 ID : 9a3f2b1c8d4e5f60a1b2c3d4e5f60718   (service unique : api-gateway)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/api/checkout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023360" y="2203704"/>
            <a:ext cx="758952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9509760" y="2148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0 - 230ms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4672" y="260604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checkout.validate_cart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75150" y="2660904"/>
            <a:ext cx="607162" cy="274320"/>
          </a:xfrm>
          <a:prstGeom prst="rect">
            <a:avLst/>
          </a:prstGeom>
          <a:solidFill>
            <a:srgbClr val="0F9D6E"/>
          </a:solidFill>
          <a:ln/>
        </p:spPr>
      </p:sp>
      <p:sp>
        <p:nvSpPr>
          <p:cNvPr id="10" name="Text 8"/>
          <p:cNvSpPr/>
          <p:nvPr/>
        </p:nvSpPr>
        <p:spPr>
          <a:xfrm>
            <a:off x="4873752" y="2606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2 - 20ms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4672" y="306324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checkout.check_inventory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82312" y="3118104"/>
            <a:ext cx="910742" cy="274320"/>
          </a:xfrm>
          <a:prstGeom prst="rect">
            <a:avLst/>
          </a:prstGeom>
          <a:solidFill>
            <a:srgbClr val="0F9D6E"/>
          </a:solidFill>
          <a:ln/>
        </p:spPr>
      </p:sp>
      <p:sp>
        <p:nvSpPr>
          <p:cNvPr id="13" name="Text 11"/>
          <p:cNvSpPr/>
          <p:nvPr/>
        </p:nvSpPr>
        <p:spPr>
          <a:xfrm>
            <a:off x="5784494" y="3063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20 - 47ms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04672" y="3520440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checkout.process_payment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17159" y="3575304"/>
            <a:ext cx="584393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9509760" y="3520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48 - 230ms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60704" y="3977640"/>
            <a:ext cx="2871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payment.stripe_api_call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93054" y="4032504"/>
            <a:ext cx="569214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9509760" y="3977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50 - 228ms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5806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</a:t>
            </a:r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une unité de travail (ici, des opérations internes au même service, pas des appels réseau). </a:t>
            </a:r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largeur = la durée. </a:t>
            </a:r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L'indentation = la relation parent/enfant.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BOTE848 — Séance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1 — CONCEPTS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contient un span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4297680"/>
        </p:xfrm>
        <a:graphic>
          <a:graphicData uri="http://schemas.openxmlformats.org/drawingml/2006/table">
            <a:tbl>
              <a:tblPr/>
              <a:tblGrid>
                <a:gridCol w="2743200"/>
                <a:gridCol w="5577840"/>
                <a:gridCol w="2743200"/>
              </a:tblGrid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Champ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Rôle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Exemple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trace_id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Identifiant de la trace parente (partagé par tous les spans)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74acfed8735c8a41a01a1b4fa5ff1ced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span_id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Identifiant unique de ce span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a01a1b4fa5ff1ced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parent_span_id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Lien hiérarchique vers le span parent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(span checkout.process_payment)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operation_name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Nom de l'opération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payment.stripe_api_call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start_time / duration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Horodatage et durée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~210 ms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tags / attributes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Métadonnées clé-valeur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payment.provider = stripe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1295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</a:rPr>
                        <a:t>OK ou ERROR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729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ERROR — error_code = PAYMENT_RATE_LIMIT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BOTE848 — Séance 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1 — CONCEPTS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propagation : comment relier les services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6080" y="2468880"/>
            <a:ext cx="50292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429000" y="20116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2011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15000" y="2468880"/>
            <a:ext cx="50292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217920" y="20116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011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03920" y="2468880"/>
            <a:ext cx="50292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006840" y="201168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E8EEF1"/>
          </a:solidFill>
          <a:ln w="12700">
            <a:solidFill>
              <a:srgbClr val="B9C8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06840" y="2011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externe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2461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traceparent: 00-4bf92f3577b34da6a3ce929d0e0e4736-00f067aa0ba902b7-01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transmis dans les en-têtes HTTP à chaque appel réseau — c'est ce qui permet de reconstruire l'arbre complet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11480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service qui reçoit une requête avec un trace_id crée un span enfant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contexte est propagé à son tour vers les services appelés en aval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recommandé : W3C Trace Context (traceparent) — ancien standard : B3 (Zipkin)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56235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Exemple générique : ShopFlow aujourd'hui est un service unique (api-gateway). Ce mécanisme réseau s'appliquerait si inventory ou payment étaient un jour extraits en microservices séparés — nos spans internes actuels n'ont pas besoin de ce header.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BOTE848 — Séance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1 — CONCEPTS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Sampling : pourquoi ne pas tout tracer 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74720" cy="3931920"/>
          </a:xfrm>
          <a:prstGeom prst="roundRect">
            <a:avLst>
              <a:gd name="adj" fmla="val 2105"/>
            </a:avLst>
          </a:prstGeom>
          <a:solidFill>
            <a:srgbClr val="F5FA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170" y="223205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Head-based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3337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au début de la trace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3886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1 requête sur 100 (taux fixe)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46634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9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simple, peu coûteux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peut manquer les erreurs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97680" y="1874520"/>
            <a:ext cx="3474720" cy="3931920"/>
          </a:xfrm>
          <a:prstGeom prst="roundRect">
            <a:avLst>
              <a:gd name="adj" fmla="val 2105"/>
            </a:avLst>
          </a:prstGeom>
          <a:solidFill>
            <a:srgbClr val="F5FA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21488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210" y="2232050"/>
            <a:ext cx="473659" cy="47365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6280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Tail-based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4526280" y="3337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après la trace complète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526280" y="3886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Garder 100% des erreurs, 1% du reste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526280" y="46634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9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 rate jamais l'important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plus complexe à opérer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046720" y="1874520"/>
            <a:ext cx="3474720" cy="3931920"/>
          </a:xfrm>
          <a:prstGeom prst="roundRect">
            <a:avLst>
              <a:gd name="adj" fmla="val 2105"/>
            </a:avLst>
          </a:prstGeom>
          <a:solidFill>
            <a:srgbClr val="F5FA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21040" y="21488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4250" y="2232050"/>
            <a:ext cx="473659" cy="47365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75320" y="2926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Adaptive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275320" y="3337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Ajustement dynamique par service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275320" y="3886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 régule le débit cible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8275320" y="46634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9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équilibre automatique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moins prévisible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548640" y="59436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 TP (démo), sampling à 100% — en production, jamais.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BOTE848 — Séance 3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1 — INSTRUMENTATION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OpenTelemetry : le standard d'instrumentation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5FA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22860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0083" y="235732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971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017520" y="2788920"/>
            <a:ext cx="32004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337560" y="210312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5FA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97680" y="22860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9003" y="2357323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0" y="2971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OpenTelemetry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806440" y="2788920"/>
            <a:ext cx="32004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6126480" y="210312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F5FA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86600" y="22860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7923" y="2357323"/>
            <a:ext cx="405994" cy="4059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971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OTLP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595360" y="2788920"/>
            <a:ext cx="32004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8915400" y="210312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875520" y="22860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6843" y="2357323"/>
            <a:ext cx="405994" cy="4059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06840" y="2971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(Jaeger, Tempo...)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48640" y="38404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OpenTelemetry : chaque backend imposait son propre SDK. Aujourd'hui : un seul SDK, exporté vers n'importe quel backend compatible.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48640" y="438912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Multi-langages : Node.js, Python, Java, Go, .NET...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des projets historiques OpenTracing + OpenCensus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d'export standard : OTLP (OpenTelemetry Protocol)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Changer de backend = changer une config, pas le code d'instrumentation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BOTE848 — Séance 3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1 — INSTRUMENTATION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Auto-instrumentation vs instrumentation manuelle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F5FA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594360" cy="594360"/>
          </a:xfrm>
          <a:prstGeom prst="ellipse">
            <a:avLst/>
          </a:prstGeom>
          <a:solidFill>
            <a:srgbClr val="0F9D6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227" y="2226107"/>
            <a:ext cx="439826" cy="439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945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Auto-instrumentation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971800"/>
            <a:ext cx="4480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Fournie par des packages officiels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HTTP, Express, clients DB, gRPC…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modification du code métier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Couvre ~80% des besoins de base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26480" y="187452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F5FA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214884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067" y="2226107"/>
            <a:ext cx="439826" cy="4398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21945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Instrumentation manuelle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446520" y="2971800"/>
            <a:ext cx="4480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Nécessaire pour la logique métier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Tracer : tracer.startActiveSpan(...)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 des attributs métier (order.id...)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payment.stripe_api_call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BOTE848 — Séance 3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1 — OUTIL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Jaeger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468880" cy="1508760"/>
          </a:xfrm>
          <a:prstGeom prst="roundRect">
            <a:avLst>
              <a:gd name="adj" fmla="val 4848"/>
            </a:avLst>
          </a:prstGeom>
          <a:solidFill>
            <a:srgbClr val="F5FA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8760" y="21488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0083" y="222016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instrumentée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3136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OTel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017520" y="2715768"/>
            <a:ext cx="32004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3337560" y="1965960"/>
            <a:ext cx="2468880" cy="1508760"/>
          </a:xfrm>
          <a:prstGeom prst="roundRect">
            <a:avLst>
              <a:gd name="adj" fmla="val 4848"/>
            </a:avLst>
          </a:prstGeom>
          <a:solidFill>
            <a:srgbClr val="F5FA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97680" y="21488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9003" y="2220163"/>
            <a:ext cx="405994" cy="40599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429000" y="3136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indexation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806440" y="2715768"/>
            <a:ext cx="32004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6126480" y="1965960"/>
            <a:ext cx="2468880" cy="1508760"/>
          </a:xfrm>
          <a:prstGeom prst="roundRect">
            <a:avLst>
              <a:gd name="adj" fmla="val 4848"/>
            </a:avLst>
          </a:prstGeom>
          <a:solidFill>
            <a:srgbClr val="F5FA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086600" y="21488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7923" y="2220163"/>
            <a:ext cx="405994" cy="40599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1792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217920" y="3136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/ ES / Cassandra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595360" y="2715768"/>
            <a:ext cx="32004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8915400" y="1965960"/>
            <a:ext cx="2468880" cy="1508760"/>
          </a:xfrm>
          <a:prstGeom prst="roundRect">
            <a:avLst>
              <a:gd name="adj" fmla="val 4848"/>
            </a:avLst>
          </a:prstGeom>
          <a:solidFill>
            <a:srgbClr val="F5FA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875520" y="21488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6843" y="2220163"/>
            <a:ext cx="405994" cy="40599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00684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+ UI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9006840" y="31363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recherche, waterfall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548640" y="38404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EAF4F7"/>
          </a:solidFill>
          <a:ln/>
        </p:spPr>
      </p:sp>
      <p:sp>
        <p:nvSpPr>
          <p:cNvPr id="28" name="Text 22"/>
          <p:cNvSpPr/>
          <p:nvPr/>
        </p:nvSpPr>
        <p:spPr>
          <a:xfrm>
            <a:off x="822960" y="39776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"all-in-one" (utilisée en TP) 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jaegertracing/all-in-one regroupe Agent + Collector + Query + UI + stockage mémoire — simplifie le déploiement en formation. En production : composants séparés, scalables indépendamment.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548640" y="5486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 : http://localhost:16686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BOTE848 — Séance 3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9144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5" y="1021385"/>
            <a:ext cx="608990" cy="6089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1051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8F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2 — TP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2011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vous de jouer : TP Jaeger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640080" y="3017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Retrouver une trace en échec sur /api/checkout et identifier le span responsable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40080" y="3840480"/>
            <a:ext cx="8686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Jaeger (docker compose up -d --build)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l'instrumentation OpenTelemetry existante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Déclencher l'incident (trigger-incident.sh) et rechercher la trace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la root cause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BOTE848 — Séance 3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2 — TP JAEGER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 : le statut, pas la durée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20640" cy="3657600"/>
          </a:xfrm>
          <a:prstGeom prst="roundRect">
            <a:avLst>
              <a:gd name="adj" fmla="val 2000"/>
            </a:avLst>
          </a:prstGeom>
          <a:solidFill>
            <a:srgbClr val="F5FA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payment.stripe_api_call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enfant de checkout.process_payment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du span (en erreur)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0" y="3017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~210 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du même span (succès)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3474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100 - 300 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931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3931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389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error_code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4389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PAYMENT_RATE_LIMIT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846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payment.provider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4846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stripe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920240"/>
            <a:ext cx="5120640" cy="3657600"/>
          </a:xfrm>
          <a:prstGeom prst="roundRect">
            <a:avLst>
              <a:gd name="adj" fmla="val 2000"/>
            </a:avLst>
          </a:prstGeom>
          <a:solidFill>
            <a:srgbClr val="065A82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0" y="219456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2123" y="2265883"/>
            <a:ext cx="405994" cy="40599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132320" y="2240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Piège identifié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00800" y="30175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span en erreur n'est PAS plus long que d'habitude (~200ms, comme un span en succès). Aucun bottleneck de durée ici.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400800" y="4069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F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la trace ajoute aux logs/métriques :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400800" y="43891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statut ERROR + l'attribut error_code du span qui localisent précisément l'échec — pas sa largeur dans le waterfall.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BOTE848 — Séance 3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3 — DASHBOARD UNIFIÉ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seul panneau de pilotage pour les 3 piliers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séance 2 : un dashboard Loki, un dashboard Prometheus, séparés.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 : Logs + Métriques + Traces réunis — un SRE en astreinte ne doit pas naviguer entre 3 outils en pleine crise.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5FA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3172968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281" y="3274009"/>
            <a:ext cx="575158" cy="5751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Prometheus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91640" y="35387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RED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51960" y="288036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5FA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0560" y="3172968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601" y="3274009"/>
            <a:ext cx="575158" cy="5751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9496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Loki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394960" y="35387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filtrés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955280" y="288036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F5FA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183880" y="3172968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921" y="3274009"/>
            <a:ext cx="575158" cy="57515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098280" y="3154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Jaeger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9098280" y="35387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lentes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498080" y="4251960"/>
            <a:ext cx="0" cy="50292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3200400" y="4892040"/>
            <a:ext cx="5760720" cy="1051560"/>
          </a:xfrm>
          <a:prstGeom prst="roundRect">
            <a:avLst>
              <a:gd name="adj" fmla="val 6957"/>
            </a:avLst>
          </a:prstGeom>
          <a:solidFill>
            <a:srgbClr val="065A82"/>
          </a:solidFill>
          <a:ln/>
        </p:spPr>
      </p:sp>
      <p:sp>
        <p:nvSpPr>
          <p:cNvPr id="22" name="Text 17"/>
          <p:cNvSpPr/>
          <p:nvPr/>
        </p:nvSpPr>
        <p:spPr>
          <a:xfrm>
            <a:off x="3200400" y="4892040"/>
            <a:ext cx="5760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Grafana « ShopFlow — Vue Unifiée »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BOTE848 — Séance 3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3 — DASHBOARD UNIFIÉ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trace_id : la clé de corrélation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trace_id : 74acfed8735c8a41a01a1b4fa5ff1ced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80760" y="2468880"/>
            <a:ext cx="-384048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548640" y="283464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5FA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97380" y="310896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6534" y="3198114"/>
            <a:ext cx="507492" cy="5074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 (Jaeger)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77240" y="4389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le span payment.stripe_api_call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80760" y="2468880"/>
            <a:ext cx="-1371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13" name="Shape 10"/>
          <p:cNvSpPr/>
          <p:nvPr/>
        </p:nvSpPr>
        <p:spPr>
          <a:xfrm>
            <a:off x="4251960" y="283464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5FA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600700" y="310896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854" y="3198114"/>
            <a:ext cx="507492" cy="50749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34840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Logs (Loki)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4480560" y="4389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"Logs for this span" → filtré sur trace_id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080760" y="2468880"/>
            <a:ext cx="35661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19" name="Shape 15"/>
          <p:cNvSpPr/>
          <p:nvPr/>
        </p:nvSpPr>
        <p:spPr>
          <a:xfrm>
            <a:off x="7955280" y="283464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F5FA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9304020" y="310896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3174" y="3198114"/>
            <a:ext cx="507492" cy="50749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138160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Métriques (Prometheus)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8183880" y="4389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"Related metrics" → latence au même instant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48640" y="54864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Explore fait le lien automatiquement — configuré une fois dans les datasources (tracesToLogsV2 / tracesToMetrics).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BOTE848 — Séance 3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3 — MONITORING AVANCÉ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 &amp; Error Budget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031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99.5%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8F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291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% de requêtes checkout &lt; 2s sur 30 jours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9202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21031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297680" y="2926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8F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tolérée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26280" y="3291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budget disponible sur la période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9202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0" y="21031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3h36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8046720" y="2926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8F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en temps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75320" y="3291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Downtime/dégradation tolérée par mois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2976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 (indicateur) → SLO (objectif) → Error budget (marge de manœuvre)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47548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Alerter sur la consommation du budget (tendance) plutôt que sur un seul seuil instantané réduit les faux positifs.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BOTE848 — Séance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3 — MONITORING AVANCÉ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Alerting multi-signal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F5FA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94560"/>
            <a:ext cx="548640" cy="548640"/>
          </a:xfrm>
          <a:prstGeom prst="ellipse">
            <a:avLst/>
          </a:prstGeom>
          <a:solidFill>
            <a:srgbClr val="C2410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226588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40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Alerte simple (séance 2)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2971800"/>
            <a:ext cx="4572000" cy="8229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29718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rate(errors) &gt; seuil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40233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 déclencher sur 1 requête isolée → faux positif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26480" y="192024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F5FA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2194560"/>
            <a:ext cx="548640" cy="548640"/>
          </a:xfrm>
          <a:prstGeom prst="ellipse">
            <a:avLst/>
          </a:prstGeom>
          <a:solidFill>
            <a:srgbClr val="0F9D6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123" y="2265883"/>
            <a:ext cx="405994" cy="40599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2240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Alerte enrichie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400800" y="2971800"/>
            <a:ext cx="4572000" cy="8229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6" name="Text 12"/>
          <p:cNvSpPr/>
          <p:nvPr/>
        </p:nvSpPr>
        <p:spPr>
          <a:xfrm>
            <a:off x="6583680" y="29718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rate(errors) &gt; seuil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 latence P95 &gt; seuil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400800" y="402336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de 2 signaux → réduit les faux positifs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48640" y="54406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: les annotations Grafana affichent automatiquement le déclenchement d'une alerte en overlay sur tous les dashboards.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BOTE848 — Séance 3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9144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065" y="1021385"/>
            <a:ext cx="608990" cy="6089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1051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8F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4 — MSPR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2011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en situation professionnelle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40080" y="30175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nouvel incident ShopFlow, jamais vu, à diagnostiquer avec les 3 piliers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40080" y="3840480"/>
            <a:ext cx="10241280" cy="1920240"/>
          </a:xfrm>
          <a:prstGeom prst="roundRect">
            <a:avLst>
              <a:gd name="adj" fmla="val 3810"/>
            </a:avLst>
          </a:prstGeom>
          <a:solidFill>
            <a:srgbClr val="065A82">
              <a:alpha val="8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4023360"/>
            <a:ext cx="9692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"Des clients signalent que leur commande met ‘bizarrement longtemps’ à se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valider, sans message d'erreur — elle finit toujours par passer. Ce n'est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 systématique, donc personne n'avait creusé. Vous êtes l'astreinte SRE."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BOTE848 — Séance 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4 — MSPR SHOPFLOW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Déroulé de l'investigation guidée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704088"/>
          </a:xfrm>
          <a:prstGeom prst="roundRect">
            <a:avLst>
              <a:gd name="adj" fmla="val 9091"/>
            </a:avLst>
          </a:prstGeom>
          <a:solidFill>
            <a:srgbClr val="F5FAFC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929384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900" y="1994764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28800"/>
            <a:ext cx="2743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Détection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297680" y="1828800"/>
            <a:ext cx="7132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: quelle route a une latence P95 anormalement élevée ?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670048"/>
            <a:ext cx="11064240" cy="704088"/>
          </a:xfrm>
          <a:prstGeom prst="roundRect">
            <a:avLst>
              <a:gd name="adj" fmla="val 9091"/>
            </a:avLst>
          </a:prstGeom>
          <a:solidFill>
            <a:srgbClr val="F5FAFC"/>
          </a:solidFill>
          <a:ln/>
        </p:spPr>
      </p:sp>
      <p:sp>
        <p:nvSpPr>
          <p:cNvPr id="10" name="Shape 7"/>
          <p:cNvSpPr/>
          <p:nvPr/>
        </p:nvSpPr>
        <p:spPr>
          <a:xfrm>
            <a:off x="731520" y="277063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00" y="2836012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670048"/>
            <a:ext cx="2743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Logs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297680" y="2670048"/>
            <a:ext cx="7132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: quel message revient — et à quel niveau (warn) ?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511296"/>
            <a:ext cx="11064240" cy="704088"/>
          </a:xfrm>
          <a:prstGeom prst="roundRect">
            <a:avLst>
              <a:gd name="adj" fmla="val 9091"/>
            </a:avLst>
          </a:prstGeom>
          <a:solidFill>
            <a:srgbClr val="F5FAFC"/>
          </a:solidFill>
          <a:ln/>
        </p:spPr>
      </p:sp>
      <p:sp>
        <p:nvSpPr>
          <p:cNvPr id="15" name="Shape 11"/>
          <p:cNvSpPr/>
          <p:nvPr/>
        </p:nvSpPr>
        <p:spPr>
          <a:xfrm>
            <a:off x="731520" y="36118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00" y="3677260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511296"/>
            <a:ext cx="2743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Métriques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4297680" y="3511296"/>
            <a:ext cx="7132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PromQL : P50/P95/P99 sont-ils proches, ou très écartés ?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4352544"/>
            <a:ext cx="11064240" cy="704088"/>
          </a:xfrm>
          <a:prstGeom prst="roundRect">
            <a:avLst>
              <a:gd name="adj" fmla="val 9091"/>
            </a:avLst>
          </a:prstGeom>
          <a:solidFill>
            <a:srgbClr val="F5FAFC"/>
          </a:solidFill>
          <a:ln/>
        </p:spPr>
      </p:sp>
      <p:sp>
        <p:nvSpPr>
          <p:cNvPr id="20" name="Shape 15"/>
          <p:cNvSpPr/>
          <p:nvPr/>
        </p:nvSpPr>
        <p:spPr>
          <a:xfrm>
            <a:off x="731520" y="4453128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900" y="4518508"/>
            <a:ext cx="372161" cy="3721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352544"/>
            <a:ext cx="2743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Traces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4297680" y="4352544"/>
            <a:ext cx="7132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 : le span fautif est-il en erreur, ou juste... lent ?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48640" y="5193792"/>
            <a:ext cx="11064240" cy="704088"/>
          </a:xfrm>
          <a:prstGeom prst="roundRect">
            <a:avLst>
              <a:gd name="adj" fmla="val 9091"/>
            </a:avLst>
          </a:prstGeom>
          <a:solidFill>
            <a:srgbClr val="F5FAFC"/>
          </a:solidFill>
          <a:ln/>
        </p:spPr>
      </p:sp>
      <p:sp>
        <p:nvSpPr>
          <p:cNvPr id="25" name="Shape 19"/>
          <p:cNvSpPr/>
          <p:nvPr/>
        </p:nvSpPr>
        <p:spPr>
          <a:xfrm>
            <a:off x="731520" y="529437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900" y="5359756"/>
            <a:ext cx="372161" cy="37216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3040" y="5193792"/>
            <a:ext cx="2743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Rapport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297680" y="5193792"/>
            <a:ext cx="71323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+ contraste explicite avec le Bloc 2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BOTE848 — Séance 3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parcours complet des 3 séances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F5FA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488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" y="222016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1305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Fondamentaux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926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piliers, logs bruts, jq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51960" y="1874520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F5FA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21488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1883" y="2220163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21305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Loki / ELK / Prometheus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480560" y="2926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LogQL, KQL, PromQL, RED/USE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955280" y="1874520"/>
            <a:ext cx="3383280" cy="1920240"/>
          </a:xfrm>
          <a:prstGeom prst="roundRect">
            <a:avLst>
              <a:gd name="adj" fmla="val 3810"/>
            </a:avLst>
          </a:prstGeom>
          <a:solidFill>
            <a:srgbClr val="F5FA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83880" y="21488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203" y="2220163"/>
            <a:ext cx="405994" cy="4059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15400" y="213055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Jaeger &amp; dashboard unifié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183880" y="29260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Traces, corrélation, SLO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114800"/>
            <a:ext cx="11064240" cy="1645920"/>
          </a:xfrm>
          <a:prstGeom prst="roundRect">
            <a:avLst>
              <a:gd name="adj" fmla="val 4444"/>
            </a:avLst>
          </a:prstGeom>
          <a:solidFill>
            <a:srgbClr val="21295C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43434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170" y="4426610"/>
            <a:ext cx="473659" cy="47365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42519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Compétences RNCP 35584 mobilisées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691640" y="46634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EISI4.3 · EISI4.4 · EISI4.5 (tests, identification des erreurs) · EISI4.6 (intégration continue, alerting)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BOTE848 — Séance 3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-2286000"/>
            <a:ext cx="6400800" cy="64008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!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retours d'expérience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BOTE848 — Supervision, Observabilité et Monitoring Avancé DevOps — EPSI Bordeaux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BOTE848 - Séance 3 - Traces, Dashboard Unifié &amp; MSPR</dc:title>
  <dc:subject>PptxGenJS Presentation</dc:subject>
  <dc:creator>EPSI Bordeaux</dc:creator>
  <cp:lastModifiedBy>EPSI Bordeaux</cp:lastModifiedBy>
  <cp:revision>1</cp:revision>
  <dcterms:created xsi:type="dcterms:W3CDTF">2026-07-07T19:54:52Z</dcterms:created>
  <dcterms:modified xsi:type="dcterms:W3CDTF">2026-07-07T19:54:52Z</dcterms:modified>
</cp:coreProperties>
</file>